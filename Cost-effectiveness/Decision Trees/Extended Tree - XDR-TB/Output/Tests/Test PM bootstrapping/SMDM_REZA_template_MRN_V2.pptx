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BF821-21C9-D2BE-5196-9BDA80207BB6}" name="Yaesoubi, Reza" initials="YR" userId="S::reza.yaesoubi@yale.edu::15598c20-946c-4c54-995f-c9bd927145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BBF53-324D-3B41-9E21-1CB27CDF7C90}" v="3" dt="2024-10-16T20:20:48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 autoAdjust="0"/>
    <p:restoredTop sz="97030"/>
  </p:normalViewPr>
  <p:slideViewPr>
    <p:cSldViewPr snapToGrid="0">
      <p:cViewPr>
        <p:scale>
          <a:sx n="50" d="100"/>
          <a:sy n="50" d="100"/>
        </p:scale>
        <p:origin x="2136" y="-6696"/>
      </p:cViewPr>
      <p:guideLst>
        <p:guide orient="horz" pos="13824"/>
        <p:guide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23802-87DE-B84F-ABAC-F6262E1BA491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CBC40-8FE0-104C-94C9-78FE79242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6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CCBC40-8FE0-104C-94C9-78FE792422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2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4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66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1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5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5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5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5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4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8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96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0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86AD6-F377-41BB-BA9A-47C1066AFCC0}" type="datetimeFigureOut">
              <a:rPr lang="en-US" smtClean="0"/>
              <a:t>10/16/24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B3201-4F9F-45D5-AB27-4B04AFB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0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79E8A5-E370-1B46-FC4B-6FC7027DA841}"/>
              </a:ext>
            </a:extLst>
          </p:cNvPr>
          <p:cNvSpPr txBox="1"/>
          <p:nvPr/>
        </p:nvSpPr>
        <p:spPr>
          <a:xfrm>
            <a:off x="0" y="-1"/>
            <a:ext cx="32918400" cy="402336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9EF4A2C0-C18D-1A06-47D5-DBA4B15C4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5" y="265470"/>
            <a:ext cx="3687097" cy="19467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563A9C-D504-AFC5-B371-120785080477}"/>
              </a:ext>
            </a:extLst>
          </p:cNvPr>
          <p:cNvSpPr txBox="1"/>
          <p:nvPr/>
        </p:nvSpPr>
        <p:spPr>
          <a:xfrm>
            <a:off x="5043948" y="265470"/>
            <a:ext cx="229189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Using prediction models to inform cost-effective treatment recommendations at the point of care</a:t>
            </a:r>
            <a:endParaRPr lang="en-US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3C887-C905-05D7-13B9-52914729B53E}"/>
              </a:ext>
            </a:extLst>
          </p:cNvPr>
          <p:cNvSpPr txBox="1"/>
          <p:nvPr/>
        </p:nvSpPr>
        <p:spPr>
          <a:xfrm>
            <a:off x="5353664" y="2079526"/>
            <a:ext cx="22211071" cy="14619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Mariana Neves, PhD</a:t>
            </a:r>
            <a:r>
              <a:rPr lang="en-US" sz="3600" b="1" i="0" u="none" strike="noStrike" baseline="3000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1,2</a:t>
            </a:r>
            <a:r>
              <a:rPr lang="en-US" sz="36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</a:t>
            </a:r>
            <a:r>
              <a:rPr lang="en-US" sz="3600" b="1" i="0" u="none" strike="noStrike" baseline="3000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36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Reza </a:t>
            </a:r>
            <a:r>
              <a:rPr lang="en-US" sz="3600" b="1" i="0" u="none" strike="noStrike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Yaesoubi</a:t>
            </a:r>
            <a:r>
              <a:rPr lang="en-US" sz="36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PhD</a:t>
            </a:r>
            <a:r>
              <a:rPr lang="en-US" sz="3600" b="1" i="0" u="none" strike="noStrike" baseline="3000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1,2</a:t>
            </a:r>
            <a:endParaRPr lang="en-US" sz="3600" b="1" i="0" u="none" strike="noStrike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algn="ctr"/>
            <a:r>
              <a:rPr lang="en-US" sz="2400" baseline="30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r>
              <a:rPr lang="en-US" sz="2400" b="0" i="0" u="none" strike="noStrike" dirty="0">
                <a:solidFill>
                  <a:srgbClr val="FFFFFF"/>
                </a:solidFill>
                <a:effectLst/>
                <a:latin typeface="Roboto"/>
                <a:ea typeface="Roboto"/>
                <a:cs typeface="Roboto"/>
              </a:rPr>
              <a:t> Department of Health Policy and Management, Yale School of Public Health, New Haven, CT, 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USA</a:t>
            </a:r>
            <a:endParaRPr lang="en-US" sz="2400" dirty="0"/>
          </a:p>
          <a:p>
            <a:pPr algn="ctr"/>
            <a:r>
              <a:rPr lang="en-US" sz="2400" b="0" i="0" u="none" strike="noStrike" baseline="30000" dirty="0">
                <a:solidFill>
                  <a:srgbClr val="FFFFFF"/>
                </a:solidFill>
                <a:effectLst/>
                <a:latin typeface="Roboto"/>
                <a:ea typeface="Roboto"/>
                <a:cs typeface="Roboto"/>
              </a:rPr>
              <a:t>2</a:t>
            </a:r>
            <a:r>
              <a:rPr lang="en-US" sz="2400" b="0" i="0" u="none" strike="noStrike" dirty="0">
                <a:solidFill>
                  <a:srgbClr val="FFFFFF"/>
                </a:solidFill>
                <a:effectLst/>
                <a:latin typeface="Roboto"/>
                <a:ea typeface="Roboto"/>
                <a:cs typeface="Roboto"/>
              </a:rPr>
              <a:t> Public Health Modeling Unit, Yale School of Public Health, New Haven, CT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, USA</a:t>
            </a:r>
            <a:endParaRPr lang="en-US" sz="2400" dirty="0"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8A6379-1B95-3451-8F2A-F97BDAFB7CBD}"/>
              </a:ext>
            </a:extLst>
          </p:cNvPr>
          <p:cNvSpPr txBox="1">
            <a:spLocks/>
          </p:cNvSpPr>
          <p:nvPr/>
        </p:nvSpPr>
        <p:spPr>
          <a:xfrm>
            <a:off x="16529662" y="19740077"/>
            <a:ext cx="15931535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91440" rtlCol="0" anchor="ctr" anchorCtr="0">
            <a:no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Roboto" panose="02000000000000000000" pitchFamily="2" charset="0"/>
              </a:rPr>
              <a:t>Predicting rifampicin-resistant tuberculosis </a:t>
            </a:r>
            <a:endParaRPr lang="en-US" sz="4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1605CB-C430-4948-A788-BD74774D970F}"/>
              </a:ext>
            </a:extLst>
          </p:cNvPr>
          <p:cNvSpPr txBox="1"/>
          <p:nvPr/>
        </p:nvSpPr>
        <p:spPr>
          <a:xfrm>
            <a:off x="25580166" y="42589458"/>
            <a:ext cx="7013714" cy="10092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sz="2800" b="1" dirty="0"/>
              <a:t>Disclosures:</a:t>
            </a:r>
            <a:br>
              <a:rPr lang="en-US" sz="2800" dirty="0"/>
            </a:br>
            <a:r>
              <a:rPr lang="en-US" sz="2800" dirty="0"/>
              <a:t>Authors have no conflict of interest to disclose.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1E7F92-E4B5-8BB8-7906-9679B1DE455E}"/>
              </a:ext>
            </a:extLst>
          </p:cNvPr>
          <p:cNvSpPr/>
          <p:nvPr/>
        </p:nvSpPr>
        <p:spPr>
          <a:xfrm>
            <a:off x="324465" y="4343400"/>
            <a:ext cx="15931535" cy="4368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defTabSz="2965131">
              <a:lnSpc>
                <a:spcPct val="90000"/>
              </a:lnSpc>
              <a:spcBef>
                <a:spcPts val="2000"/>
              </a:spcBef>
              <a:defRPr sz="3200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3600" b="1" dirty="0">
                <a:solidFill>
                  <a:srgbClr val="2C365E"/>
                </a:solidFill>
                <a:latin typeface="Source Sans Pro"/>
                <a:ea typeface="Source Sans Pro"/>
              </a:rPr>
              <a:t>Summary</a:t>
            </a:r>
          </a:p>
          <a:p>
            <a:pPr defTabSz="2965131">
              <a:lnSpc>
                <a:spcPct val="90000"/>
              </a:lnSpc>
              <a:spcBef>
                <a:spcPts val="1100"/>
              </a:spcBef>
              <a:buSzPct val="100000"/>
              <a:defRPr sz="2200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Due to limited access to drug susceptibility tests, the treatment of patients with rifampicin-resistant tuberculosis (RR-TB) is often empiric and based on standardized guidelines. In 2020, the World Health Organization (WHO) endorsed a novel treatment regimen for RR-TB, known as </a:t>
            </a:r>
            <a:r>
              <a:rPr lang="en-US" sz="2800" b="1" dirty="0" err="1">
                <a:solidFill>
                  <a:srgbClr val="2C365E"/>
                </a:solidFill>
                <a:latin typeface="Source Sans Pro SemiBold"/>
                <a:ea typeface="Source Sans Pro SemiBold"/>
              </a:rPr>
              <a:t>BPaLM</a:t>
            </a: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. However, recent rises in the prevalence of resistance to fluoroquinolones (FLQ), an important antibiotic class present in the </a:t>
            </a:r>
            <a:r>
              <a:rPr lang="en-US" sz="2800" b="1" dirty="0" err="1">
                <a:solidFill>
                  <a:srgbClr val="2C365E"/>
                </a:solidFill>
                <a:latin typeface="Source Sans Pro SemiBold"/>
                <a:ea typeface="Source Sans Pro SemiBold"/>
              </a:rPr>
              <a:t>BPaLM</a:t>
            </a: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 regimen, have challenged the effectiveness of this regimen. In this context, a key question is whether certain patients with RR-TB should be treated with a modified version of the </a:t>
            </a:r>
            <a:r>
              <a:rPr lang="en-US" sz="2800" b="1" dirty="0" err="1">
                <a:solidFill>
                  <a:srgbClr val="2C365E"/>
                </a:solidFill>
                <a:latin typeface="Source Sans Pro SemiBold"/>
                <a:ea typeface="Source Sans Pro SemiBold"/>
              </a:rPr>
              <a:t>BPaLM</a:t>
            </a: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 regimen in which FLQ is replaced with </a:t>
            </a:r>
            <a:r>
              <a:rPr lang="en-US" sz="2800" b="1" dirty="0" err="1">
                <a:solidFill>
                  <a:srgbClr val="2C365E"/>
                </a:solidFill>
                <a:latin typeface="Source Sans Pro SemiBold"/>
                <a:ea typeface="Source Sans Pro SemiBold"/>
              </a:rPr>
              <a:t>delamanid</a:t>
            </a: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, another important second-line antibiotic but with lower resistance prevalence.  </a:t>
            </a:r>
            <a:endParaRPr lang="en-US" sz="2800" b="1" dirty="0">
              <a:solidFill>
                <a:srgbClr val="2C365E"/>
              </a:solidFill>
              <a:latin typeface="Source Sans Pro"/>
              <a:ea typeface="Source Sans Pr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3DE03-713B-0204-8483-1CF05D5736EA}"/>
              </a:ext>
            </a:extLst>
          </p:cNvPr>
          <p:cNvSpPr/>
          <p:nvPr/>
        </p:nvSpPr>
        <p:spPr>
          <a:xfrm>
            <a:off x="16662400" y="4343400"/>
            <a:ext cx="15931535" cy="4368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defTabSz="2201582">
              <a:spcBef>
                <a:spcPts val="900"/>
              </a:spcBef>
              <a:defRPr sz="3762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3600" dirty="0"/>
              <a:t>Methods</a:t>
            </a:r>
          </a:p>
          <a:p>
            <a:pPr defTabSz="2965131">
              <a:lnSpc>
                <a:spcPct val="90000"/>
              </a:lnSpc>
              <a:spcBef>
                <a:spcPts val="1100"/>
              </a:spcBef>
              <a:buSzPct val="100000"/>
              <a:defRPr sz="2200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We developed a decision tool by combining a predictive model and a decision tree. The predictive model is a hierarchical logistic regression trained and validated with the records of 540 patients with RR-TB, reported in the Republic of Moldova between January 2018 and December 2019. We used this model to estimate the probability that a RR-TB infection is also resistant to FLQ based on patient’s demographic and clinical information (e.g., age and tuberculosis history). The resistance probabilities predicted by the model are fed into a decision tree to project the cost and disability-adjusted life-years (DALYs), while accounting for toxicity and efficacy associated with each regimen. Given a willingness-to-pay (WTP) threshold, the decision tool selects the regimen with the lowest expected loss in net monetary benefit (NMB) as the optimal treatment.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40450D-0162-D964-E136-D267FC18FA57}"/>
              </a:ext>
            </a:extLst>
          </p:cNvPr>
          <p:cNvSpPr/>
          <p:nvPr/>
        </p:nvSpPr>
        <p:spPr>
          <a:xfrm>
            <a:off x="324465" y="9128760"/>
            <a:ext cx="15931535" cy="4368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defTabSz="2965131">
              <a:lnSpc>
                <a:spcPct val="90000"/>
              </a:lnSpc>
              <a:spcBef>
                <a:spcPts val="2000"/>
              </a:spcBef>
              <a:defRPr sz="3200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3600" dirty="0"/>
              <a:t>Results</a:t>
            </a:r>
            <a:endParaRPr lang="en-US" sz="4800" dirty="0"/>
          </a:p>
          <a:p>
            <a:pPr defTabSz="2965131">
              <a:lnSpc>
                <a:spcPct val="90000"/>
              </a:lnSpc>
              <a:spcBef>
                <a:spcPts val="1100"/>
              </a:spcBef>
              <a:buSzPct val="100000"/>
              <a:defRPr sz="2200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The gain in NMB from using our decision tool to inform treatment regimen varied between patients depending on FLQ resistance status (Panels A and B). A statistically significant gain in NMB was observed among patients with TB resistant to rifampicin and FLQ (Panel A). However, this gain was accompanied by a comparatively small loss in NMB among patients with TB resistant to rifampicin but susceptible to FLQ (Panel B). Among all patients with RR-TB, the average gain in NMB was positive across different WTP thresholds (Panel C).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C65E97-619D-B67F-61F4-E08915978ABD}"/>
              </a:ext>
            </a:extLst>
          </p:cNvPr>
          <p:cNvSpPr/>
          <p:nvPr/>
        </p:nvSpPr>
        <p:spPr>
          <a:xfrm>
            <a:off x="16662400" y="9128760"/>
            <a:ext cx="15931535" cy="4368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defTabSz="2965131">
              <a:lnSpc>
                <a:spcPct val="90000"/>
              </a:lnSpc>
              <a:spcBef>
                <a:spcPts val="2000"/>
              </a:spcBef>
              <a:defRPr sz="3200" b="1">
                <a:solidFill>
                  <a:srgbClr val="2C365E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3600" dirty="0"/>
              <a:t>Conclusions</a:t>
            </a:r>
            <a:endParaRPr lang="en-US" sz="4800" dirty="0"/>
          </a:p>
          <a:p>
            <a:pPr defTabSz="2965131">
              <a:lnSpc>
                <a:spcPct val="90000"/>
              </a:lnSpc>
              <a:spcBef>
                <a:spcPts val="1100"/>
              </a:spcBef>
              <a:buSzPct val="100000"/>
              <a:defRPr sz="2200" b="1">
                <a:solidFill>
                  <a:srgbClr val="2C365E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The personalized treatment regimens recommended by the developed decision tool are expected to increase the NMB among patients with RR-TB compared to using the standardized regimens for all patients. However, the overall gain in NMB may be accompanied by a loss among patients with FLQ-susceptible TB.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99038E5-9243-78C6-4E0E-B9A9CEF760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8166" y="39229591"/>
            <a:ext cx="9013031" cy="301061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EB6131A-E7A7-E1DF-7A68-863A61D156E8}"/>
              </a:ext>
            </a:extLst>
          </p:cNvPr>
          <p:cNvSpPr txBox="1"/>
          <p:nvPr/>
        </p:nvSpPr>
        <p:spPr>
          <a:xfrm>
            <a:off x="324463" y="15629908"/>
            <a:ext cx="159315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2C365E"/>
                </a:solidFill>
                <a:latin typeface="Source Sans Pro SemiBold"/>
                <a:ea typeface="Source Sans Pro SemiBold"/>
              </a:rPr>
              <a:t>Figure 1. Gain in net monetary benefit (NMB) from using the develop decision tool to inform treatment regimens compared to using the standardized regimen for all patients with RR-TB. The shaded regions show the 95% confidence intervals</a:t>
            </a:r>
            <a:r>
              <a:rPr lang="en-US" sz="1800" b="1" dirty="0">
                <a:solidFill>
                  <a:srgbClr val="2C365E"/>
                </a:solidFill>
                <a:latin typeface="Source Sans Pro"/>
                <a:ea typeface="Source Sans Pro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EF62167-B85A-FC1B-48EF-77A5007B1AC9}"/>
                  </a:ext>
                </a:extLst>
              </p:cNvPr>
              <p:cNvSpPr txBox="1"/>
              <p:nvPr/>
            </p:nvSpPr>
            <p:spPr>
              <a:xfrm>
                <a:off x="11372195" y="33663641"/>
                <a:ext cx="8890002" cy="2684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800" i="1" kern="100" dirty="0"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2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]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×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𝐴𝑔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×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𝑇𝐵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𝑇𝑦𝑝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2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endParaRPr lang="en-US" sz="28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∼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0, </m:t>
                          </m:r>
                          <m:sSubSup>
                            <m:sSubSup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  <m:sup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=1, …, 50</m:t>
                      </m:r>
                    </m:oMath>
                  </m:oMathPara>
                </a14:m>
                <a:endParaRPr lang="en-US" sz="2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EF62167-B85A-FC1B-48EF-77A5007B1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195" y="33663641"/>
                <a:ext cx="8890002" cy="2684838"/>
              </a:xfrm>
              <a:prstGeom prst="rect">
                <a:avLst/>
              </a:prstGeom>
              <a:blipFill>
                <a:blip r:embed="rId5"/>
                <a:stretch>
                  <a:fillRect b="-1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823E1981-8387-3BE8-065C-907B40BC4647}"/>
              </a:ext>
            </a:extLst>
          </p:cNvPr>
          <p:cNvSpPr txBox="1"/>
          <p:nvPr/>
        </p:nvSpPr>
        <p:spPr>
          <a:xfrm>
            <a:off x="20262197" y="34449347"/>
            <a:ext cx="2450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Individual level</a:t>
            </a:r>
          </a:p>
        </p:txBody>
      </p:sp>
      <p:pic>
        <p:nvPicPr>
          <p:cNvPr id="54" name="Graphic 53" descr="Woman with solid fill">
            <a:extLst>
              <a:ext uri="{FF2B5EF4-FFF2-40B4-BE49-F238E27FC236}">
                <a16:creationId xmlns:a16="http://schemas.microsoft.com/office/drawing/2014/main" id="{9B1D8F07-36F7-8338-883E-55B4AF57E6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80378" y="33752371"/>
            <a:ext cx="696976" cy="696976"/>
          </a:xfrm>
          <a:prstGeom prst="rect">
            <a:avLst/>
          </a:prstGeom>
        </p:spPr>
      </p:pic>
      <p:pic>
        <p:nvPicPr>
          <p:cNvPr id="56" name="Graphic 55" descr="Group with solid fill">
            <a:extLst>
              <a:ext uri="{FF2B5EF4-FFF2-40B4-BE49-F238E27FC236}">
                <a16:creationId xmlns:a16="http://schemas.microsoft.com/office/drawing/2014/main" id="{52F7C53A-5133-7810-E625-E002042819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851812" y="34860923"/>
            <a:ext cx="954107" cy="95410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A3EE736-E986-7738-D498-B699EFCBDAE1}"/>
              </a:ext>
            </a:extLst>
          </p:cNvPr>
          <p:cNvSpPr txBox="1"/>
          <p:nvPr/>
        </p:nvSpPr>
        <p:spPr>
          <a:xfrm>
            <a:off x="20407592" y="35811340"/>
            <a:ext cx="2159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District level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BA953E-CAF3-0118-8A45-FE14BC8B8D69}"/>
              </a:ext>
            </a:extLst>
          </p:cNvPr>
          <p:cNvSpPr txBox="1">
            <a:spLocks/>
          </p:cNvSpPr>
          <p:nvPr/>
        </p:nvSpPr>
        <p:spPr>
          <a:xfrm>
            <a:off x="324462" y="19740077"/>
            <a:ext cx="15931535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91440" rtlCol="0" anchor="ctr" anchorCtr="0">
            <a:no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Roboto" panose="02000000000000000000" pitchFamily="2" charset="0"/>
              </a:rPr>
              <a:t>Rifampicin-resistant tuberculosis</a:t>
            </a:r>
            <a:endParaRPr lang="en-US" sz="4400" dirty="0"/>
          </a:p>
        </p:txBody>
      </p:sp>
      <p:pic>
        <p:nvPicPr>
          <p:cNvPr id="62" name="Picture 61" descr="A diagram of a diagram&#10;&#10;Description automatically generated">
            <a:extLst>
              <a:ext uri="{FF2B5EF4-FFF2-40B4-BE49-F238E27FC236}">
                <a16:creationId xmlns:a16="http://schemas.microsoft.com/office/drawing/2014/main" id="{E6E1C882-A29A-9E39-C9B1-8DB7A366D1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968" y="37471531"/>
            <a:ext cx="8898631" cy="5352869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B0702A7-48EB-D61D-1DBF-8E1A960BDFB6}"/>
              </a:ext>
            </a:extLst>
          </p:cNvPr>
          <p:cNvSpPr txBox="1"/>
          <p:nvPr/>
        </p:nvSpPr>
        <p:spPr>
          <a:xfrm>
            <a:off x="457197" y="31615932"/>
            <a:ext cx="320040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91440" rtlCol="0" anchor="ctr" anchorCtr="0">
            <a:noAutofit/>
          </a:bodyPr>
          <a:lstStyle/>
          <a:p>
            <a:pPr algn="ctr"/>
            <a:r>
              <a:rPr lang="en-US" sz="4400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Case Study: Optimizing R</a:t>
            </a:r>
            <a:r>
              <a:rPr lang="en-US" sz="4400" b="1" dirty="0">
                <a:solidFill>
                  <a:srgbClr val="FFFFFF"/>
                </a:solidFill>
                <a:latin typeface="Roboto" panose="02000000000000000000" pitchFamily="2" charset="0"/>
              </a:rPr>
              <a:t>ifampicin-Resistant Tuberculosis Treatment</a:t>
            </a:r>
            <a:endParaRPr lang="en-US" sz="4400" dirty="0"/>
          </a:p>
        </p:txBody>
      </p:sp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208C575C-9824-7D25-2EB2-70D4B1C1EF6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0803" y="36891582"/>
            <a:ext cx="8615986" cy="64619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28A58C-D5EB-16AD-9B49-F9ABDEA795D5}"/>
              </a:ext>
            </a:extLst>
          </p:cNvPr>
          <p:cNvSpPr txBox="1"/>
          <p:nvPr/>
        </p:nvSpPr>
        <p:spPr>
          <a:xfrm>
            <a:off x="2497683" y="33968769"/>
            <a:ext cx="207431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800" dirty="0"/>
              <a:t>0.5 million People annually, fall ill with multidrug-resistant and rifampicin-resistant TB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056BC5-A9F2-F132-A7F6-AF5920F11407}"/>
              </a:ext>
            </a:extLst>
          </p:cNvPr>
          <p:cNvSpPr txBox="1"/>
          <p:nvPr/>
        </p:nvSpPr>
        <p:spPr>
          <a:xfrm>
            <a:off x="5724301" y="33968769"/>
            <a:ext cx="55532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Rifampicin is the most powerful first-line anti-TB drug.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Fluoroquinolones are a class a class of second-line anti-TB drug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 resistance to Fluoroquinolones is suspected, </a:t>
            </a:r>
            <a:r>
              <a:rPr lang="en-US" sz="2800" dirty="0" err="1"/>
              <a:t>Delamanid</a:t>
            </a:r>
            <a:r>
              <a:rPr lang="en-US" sz="2800" dirty="0"/>
              <a:t> (DLM) can be prescribed.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24" name="Graphic 23" descr="Medicine with solid fill">
            <a:extLst>
              <a:ext uri="{FF2B5EF4-FFF2-40B4-BE49-F238E27FC236}">
                <a16:creationId xmlns:a16="http://schemas.microsoft.com/office/drawing/2014/main" id="{3860A3F2-FFEA-D269-B242-AEBD257682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40359" y="34176011"/>
            <a:ext cx="1854275" cy="1854275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04A1473-F46A-5A3A-91EA-213749432B09}"/>
              </a:ext>
            </a:extLst>
          </p:cNvPr>
          <p:cNvSpPr/>
          <p:nvPr/>
        </p:nvSpPr>
        <p:spPr>
          <a:xfrm>
            <a:off x="25580166" y="42589458"/>
            <a:ext cx="7013714" cy="1009213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 descr="Cough with solid fill">
            <a:extLst>
              <a:ext uri="{FF2B5EF4-FFF2-40B4-BE49-F238E27FC236}">
                <a16:creationId xmlns:a16="http://schemas.microsoft.com/office/drawing/2014/main" id="{D32AACC8-BF97-46E7-691B-C76FD81428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6740" y="33983486"/>
            <a:ext cx="1672850" cy="16728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ECB4277-6C62-1700-075D-4EF6777BCDB6}"/>
              </a:ext>
            </a:extLst>
          </p:cNvPr>
          <p:cNvSpPr txBox="1">
            <a:spLocks/>
          </p:cNvSpPr>
          <p:nvPr/>
        </p:nvSpPr>
        <p:spPr>
          <a:xfrm>
            <a:off x="457197" y="32892216"/>
            <a:ext cx="10820403" cy="71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91440" rtlCol="0" anchor="ctr" anchorCtr="0">
            <a:no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Roboto" panose="02000000000000000000" pitchFamily="2" charset="0"/>
              </a:rPr>
              <a:t>Rifampicin-resistant tuberculosis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B2788-5310-BDBB-80E0-63A8C8D3E834}"/>
              </a:ext>
            </a:extLst>
          </p:cNvPr>
          <p:cNvSpPr txBox="1">
            <a:spLocks/>
          </p:cNvSpPr>
          <p:nvPr/>
        </p:nvSpPr>
        <p:spPr>
          <a:xfrm>
            <a:off x="11696386" y="32892215"/>
            <a:ext cx="10820403" cy="71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lIns="91440" rtlCol="0" anchor="ctr" anchorCtr="0">
            <a:no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Roboto" panose="02000000000000000000" pitchFamily="2" charset="0"/>
              </a:rPr>
              <a:t>Predicting Rifampicin-resistant tuberculosis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53959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5374</TotalTime>
  <Words>636</Words>
  <Application>Microsoft Macintosh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Cambria Math</vt:lpstr>
      <vt:lpstr>Roboto</vt:lpstr>
      <vt:lpstr>Source Sans Pro</vt:lpstr>
      <vt:lpstr>Source Sans Pro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Yaesoubi, Reza</dc:creator>
  <cp:lastModifiedBy>Neves, Mariana</cp:lastModifiedBy>
  <cp:revision>34</cp:revision>
  <dcterms:created xsi:type="dcterms:W3CDTF">2023-10-13T19:11:53Z</dcterms:created>
  <dcterms:modified xsi:type="dcterms:W3CDTF">2024-10-16T20:45:56Z</dcterms:modified>
</cp:coreProperties>
</file>